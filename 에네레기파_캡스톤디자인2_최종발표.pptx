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2926080" cy="34747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트랙 B  자유주제  No.13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8F7"/>
                </a:solidFill>
                <a:latin typeface="맑은 고딕"/>
              </a:rPr>
              <a:t>팀명: 에네레기파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화성시 불법주정차 단속정보 분석을 통한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1907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맑은 고딕"/>
              </a:rPr>
              <a:t>통행불편 민원 최소화 정책 수립 지원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95728"/>
            <a:ext cx="11430000" cy="36576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514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  <a:latin typeface="맑은 고딕"/>
              </a:rPr>
              <a:t>조장: 임단군   |   조원: 정예민, 안유경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52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  <a:latin typeface="맑은 고딕"/>
              </a:rPr>
              <a:t>지도교수: 김순찬 교수님   |   2026.05.29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29000"/>
            <a:ext cx="3566160" cy="146304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5204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217,682건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7"/>
                </a:solidFill>
                <a:latin typeface="맑은 고딕"/>
              </a:rPr>
              <a:t>2023년
실단속건수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429000"/>
            <a:ext cx="3566160" cy="14630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5204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35개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51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7"/>
                </a:solidFill>
                <a:latin typeface="맑은 고딕"/>
              </a:rPr>
              <a:t>분석 대상
법정동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429000"/>
            <a:ext cx="3566160" cy="1463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MAE 1,451건
(6.7%)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7"/>
                </a:solidFill>
                <a:latin typeface="맑은 고딕"/>
              </a:rPr>
              <a:t>앙상블
최고 성능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왜 지금 화성시 불법주정차 분석이 필요한가?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12064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1115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연도별 단속 추이 (2021~2025)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" y="1389888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단속건수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전년대비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2021년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211,404건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2022년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215,005건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▲ 1.7%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2023년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219,152건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▲ 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2024년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233,993건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▲ 6.8%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★ 역대 최다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2025년 1~4월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79,279건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증가세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12529"/>
                          </a:solidFill>
                          <a:latin typeface="맑은 고딕"/>
                        </a:rPr>
                        <a:t>추정연간 240,000+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82880" y="3310128"/>
            <a:ext cx="5120640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33284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3대 핵심 문제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675887"/>
            <a:ext cx="384048" cy="56692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3675887"/>
            <a:ext cx="384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75887"/>
            <a:ext cx="4526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6941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  <a:latin typeface="맑은 고딕"/>
              </a:rPr>
              <a:t>반응형 단속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민원 접수 후 출동 → 골든타임 놓침, 선제 예방 불가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425696"/>
            <a:ext cx="384048" cy="56692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4425696"/>
            <a:ext cx="384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25696"/>
            <a:ext cx="4526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44398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  <a:latin typeface="맑은 고딕"/>
              </a:rPr>
              <a:t>인력 배치 비효율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8172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피크 시간·지역 데이터 없이 균등 배치 → 자원 낭비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175503"/>
            <a:ext cx="384048" cy="56692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" y="5175503"/>
            <a:ext cx="384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175503"/>
            <a:ext cx="4526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1937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  <a:latin typeface="맑은 고딕"/>
              </a:rPr>
              <a:t>CCTV 설치 기준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3153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CCTV 공백 지역 vs 민원 다발지역 불일치 심각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1097280"/>
            <a:ext cx="6492240" cy="29260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32120" y="11155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사용자 퍼소나 (이해관계자 관점)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1481328"/>
            <a:ext cx="6492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0" y="1481328"/>
            <a:ext cx="6492240" cy="34747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9552" y="151790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직장인 박씨 (34세)  |  동탄2신도시 거주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1901952"/>
            <a:ext cx="6263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529"/>
                </a:solidFill>
                <a:latin typeface="맑은 고딕"/>
              </a:rPr>
              <a:t>"출근길에 불법주정차로 골목이 막혀 지각. 민원 넣어도 출동이 느리다."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59552" y="2651760"/>
            <a:ext cx="6309360" cy="3474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23560" y="267004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→ 선제적 단속 강화, 피크타임 인력 집중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858768"/>
            <a:ext cx="64922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0" y="3858768"/>
            <a:ext cx="6492240" cy="34747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59552" y="389534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학부모 김씨 (38세)  |  향남읍 거주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4279392"/>
            <a:ext cx="6263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12529"/>
                </a:solidFill>
                <a:latin typeface="맑은 고딕"/>
              </a:rPr>
              <a:t>"아이 등교길 횡단보도 앞 불법주차 반복. 같은 곳에 신고만 반복한다."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59552" y="5029200"/>
            <a:ext cx="6309360" cy="34747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23560" y="50474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→ 고위험 지역(향남읍 6.87점) CCTV 및 단속 강화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솔루션 &amp; 대시보드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Streamlit 기반 5탭 통합 분석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1179576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1155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데이터 처리 흐름도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63040"/>
            <a:ext cx="2103120" cy="137160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874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화성시 단속
데이터 xlsx
(2021~2025)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78308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1463040"/>
            <a:ext cx="2103120" cy="13716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9464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전처리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1874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법정동 추출
위반유형 분류
결측/오류 제거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78308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4608" y="1463040"/>
            <a:ext cx="21031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0328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1874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위험도 산출
CCTV 공백
시간대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178308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1463040"/>
            <a:ext cx="21031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1192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예측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874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Prophet+
SARIMA
앙상블 모델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178308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46336" y="1463040"/>
            <a:ext cx="2103120" cy="137160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92056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출력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1874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정책 권고
시각화
대시보드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71800"/>
            <a:ext cx="1179576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299008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Streamlit 5탭 대시보드 주요 기능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310128"/>
            <a:ext cx="2103120" cy="5029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" y="3337560"/>
            <a:ext cx="2011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탭 1
위험도 지도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3813048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384048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법정동별 재보정위험도
시각화 (Folium)
고위험 지역 하이라이트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23744" y="3310128"/>
            <a:ext cx="2103120" cy="5029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9464" y="3337560"/>
            <a:ext cx="2011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탭 2
히트맵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23744" y="3813048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69464" y="384048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시간대×요일
위반건수 히트맵
피크 패턴 분석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4608" y="3310128"/>
            <a:ext cx="210312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10328" y="3337560"/>
            <a:ext cx="2011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탭 3
위반유형 대책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3813048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10328" y="384048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위반유형별 분석
맞춤형 단속 전략
정책 우선순위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5472" y="3310128"/>
            <a:ext cx="2103120" cy="50292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51192" y="3337560"/>
            <a:ext cx="2011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탭 4
전체 현황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5472" y="3813048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51192" y="384048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연도별 추이
지역별 비교
CCTV 공백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46336" y="3310128"/>
            <a:ext cx="2103120" cy="5029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92056" y="3337560"/>
            <a:ext cx="2011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탭 5
예측&amp;정책권고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46336" y="3813048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92056" y="384048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2026년 6~11월
월별 예측 + 인력
수요 정책 권고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349240"/>
            <a:ext cx="11795760" cy="292608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4320" y="5367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  <a:latin typeface="맑은 고딕"/>
              </a:rPr>
              <a:t>기술 스택:  Python 3.x  |  Streamlit  |  Prophet  |  statsmodels (SARIMA)  |  Folium  |  Pandas  |  Matplotlib  |  Plotly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데모 ① — 작동성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입력 → 처리 → 출력 파이프라인 · AI 앙상블 모델 설명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1179576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1155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시스템 작동 흐름  (입력 → 처리 → 출력)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63040"/>
            <a:ext cx="2121408" cy="420624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① 입력
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83664"/>
            <a:ext cx="2121408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920240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화성시 불법주정차
단속현황 xlsx
(2021~2025)
약 25만 건 원천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75564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1463040"/>
            <a:ext cx="2121408" cy="42062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② 전처리
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2888" y="1883664"/>
            <a:ext cx="2121408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6040" y="1920240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행정동 추출 (정규식)
위반유형 5종 분류
결측·오타 정제
법정동 미추출 1.7%↓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175564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2896" y="1463040"/>
            <a:ext cx="2121408" cy="42062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28616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③ 지표 산출
Pandas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2896" y="1883664"/>
            <a:ext cx="2121408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1920240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재보정위험도 계산
CCTV 공백지수 산출
시간대 피크 집계
5개 CSV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175564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32903" y="1463040"/>
            <a:ext cx="2121408" cy="42062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78623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④ AI 예측
Prophet+SARIMA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2903" y="1883664"/>
            <a:ext cx="2121408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06055" y="1920240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Prophet 계절 모델
SARIMA 자기회귀
MAE 역수 앙상블
MAE 1,451건 (6.7%)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3" y="1755648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1" y="1463040"/>
            <a:ext cx="2121408" cy="420624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8632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⑤ 출력
Streamlit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1" y="1883664"/>
            <a:ext cx="2121408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56063" y="1920240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Folium 인터랙티브 지도
히트맵·차트 시각화
3-Tier 정책 권고문
자동 생성 출력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703320"/>
            <a:ext cx="11795760" cy="29260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3730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AI 핵심: Prophet + SARIMA 앙상블 — 왜 두 모델을 합치는가?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069080"/>
            <a:ext cx="2788920" cy="32004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6032" y="4096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Prophet (Meta)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3891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434840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연간 계절성 자동 감지
• 트렌드 변화점 탐지
• 장기 패턴에 강점
• MAE 1,594건 (7.4%)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069080"/>
            <a:ext cx="2788920" cy="3200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0" y="4096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SARIMA (통계)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3891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18688" y="4434840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자기회귀 — 직전월 의존성 포착
• 12개월 계절 주기 모델링
• 단기 변동에 강점
• MAE 1,571건 (7.4%)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71616" y="4069080"/>
            <a:ext cx="278892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44768" y="4096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앙상블 (합산)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71616" y="43891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63056" y="4434840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MAE 역수 가중: 성능 좋은 모델에
  더 높은 가중치 자동 부여
• 두 모델 상호 보완
• MAE 1,451건 (6.7%) ★최고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15984" y="4069080"/>
            <a:ext cx="2788920" cy="32004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89136" y="4096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검증 방식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15984" y="4389120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07424" y="4434840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Out-of-sample 검증
  학습: 2021~2024 (48개월)
  검증: 2025.01~04 (4개월)
• 과적합 없음 확인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데모 ② — 사용성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첫 진입 → 핵심 가치 경로 · UI/UX · 디자인 일관성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1179576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1155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사용자 핵심 경로  (처음 접속 → 정책 결정까지)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63040"/>
            <a:ext cx="2121408" cy="420624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진입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83664"/>
            <a:ext cx="212140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920240"/>
            <a:ext cx="199339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대시보드 접속
사이드바에서
연도·법정동
필터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3774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6FB5"/>
                </a:solidFill>
                <a:latin typeface="맑은 고딕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1463040"/>
            <a:ext cx="2121408" cy="42062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탭 1
위험도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2888" y="1883664"/>
            <a:ext cx="212140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6040" y="1920240"/>
            <a:ext cx="199339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Folium 지도에서
고위험 지역 클릭
→ 팝업으로 상세
수치 즉시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3774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3A3A"/>
                </a:solidFill>
                <a:latin typeface="맑은 고딕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2896" y="1463040"/>
            <a:ext cx="2121408" cy="420624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28616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탭 2
피크 파악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2896" y="1883664"/>
            <a:ext cx="212140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1920240"/>
            <a:ext cx="199339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시간대×요일
히트맵으로
언제 집중 단속
해야 할지 파악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23774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000"/>
                </a:solidFill>
                <a:latin typeface="맑은 고딕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32903" y="1463040"/>
            <a:ext cx="2121408" cy="42062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78623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탭 3
유형 대책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2903" y="1883664"/>
            <a:ext cx="212140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06055" y="1920240"/>
            <a:ext cx="199339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위반유형별
도넛차트 + 자동
권장 대책 텍스트
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1" y="23774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8A745"/>
                </a:solidFill>
                <a:latin typeface="맑은 고딕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1" y="1463040"/>
            <a:ext cx="2121408" cy="420624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8632" y="14904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탭 5
예측·결정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1" y="1883664"/>
            <a:ext cx="2121408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56063" y="1920240"/>
            <a:ext cx="199339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12529"/>
                </a:solidFill>
                <a:latin typeface="맑은 고딕"/>
              </a:rPr>
              <a:t>2026년 예측 그래프
→ 인력 수요 권고
→ 3-Tier 정책
문서 자동 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493008"/>
            <a:ext cx="5669280" cy="29260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35295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UI/UX 매끄러움 포인트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785615"/>
            <a:ext cx="5669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6032" y="3840480"/>
            <a:ext cx="1508760" cy="23774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3858768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사이드바 통합 필터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7088" y="3840480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연도·법정동·월 범위를 한 곳에서 조작 → 모든 탭에 즉시 반영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425696"/>
            <a:ext cx="1508760" cy="23774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4443983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클릭 인터랙션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47088" y="4425696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Folium 지도 마커 클릭 → 해당 법정동 상세 팝업 즉시 출력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5010912"/>
            <a:ext cx="1508760" cy="23774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5029200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자동 권고 텍스트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47088" y="5010912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법정동 선택만 하면 위험도 계산 → 3-Tier 정책 권고문 자동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5596128"/>
            <a:ext cx="1508760" cy="23774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5614416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색상 일관성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47088" y="5596128"/>
            <a:ext cx="3886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고위험=빨강, 중위험=주황, 저위험=초록 → 모든 탭에서 동일 적용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493008"/>
            <a:ext cx="589788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72200" y="3529584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디자인 일관성 원칙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785615"/>
            <a:ext cx="58978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53912" y="3840480"/>
            <a:ext cx="1371600" cy="219456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72200" y="385876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색상 체계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38404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위험도 3단계 색상(RED/ORANGE/GREEN) 전체 일관 적용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3912" y="4297680"/>
            <a:ext cx="1371600" cy="219456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72200" y="431596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헤더 구조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0" y="42976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Navy 배경 + Orange 액센트 라인으로 모든 슬라이드 통일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53912" y="4754880"/>
            <a:ext cx="1371600" cy="219456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72200" y="477316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수치 강조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47548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핵심 수치는 크고 굵게, 보조 텍스트는 회색으로 계층화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53912" y="5212080"/>
            <a:ext cx="1371600" cy="21945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72200" y="523036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반응형 레이아웃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0" y="52120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use_container_width=True로 화면 크기 무관하게 적응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53912" y="5669280"/>
            <a:ext cx="1371600" cy="219456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72200" y="568756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Folium + Streamlit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56692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streamlit-folium으로 지도를 대시보드 내에 자연스럽게 통합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차별성 &amp; 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기존 반응형 단속 → 데이터 기반 예방형 시스템으로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5440680" cy="34747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133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BEFORE  —  기존 방식 (반응형)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44752"/>
            <a:ext cx="5440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5087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맑은 고딕"/>
              </a:rPr>
              <a:t>✗  민원 접수 후 수동 출동 (사후 대응)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8424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맑은 고딕"/>
              </a:rPr>
              <a:t>✗  단속 인력 균등 배치 (데이터 미활용)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맑은 고딕"/>
              </a:rPr>
              <a:t>✗  CCTV 설치 기준 없음 (감 의존)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935224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맑은 고딕"/>
              </a:rPr>
              <a:t>✗  단속 건수 매년 증가 → 대응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41071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  <a:latin typeface="맑은 고딕"/>
              </a:rPr>
              <a:t>✗  지역별 위험도 파악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097280"/>
            <a:ext cx="6080760" cy="34747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1133856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AFTER  —  이 시스템 (예방형)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444752"/>
            <a:ext cx="6080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50876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529"/>
                </a:solidFill>
                <a:latin typeface="맑은 고딕"/>
              </a:rPr>
              <a:t>✓  앙상블 예측 기반 선제적 인력 배치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984248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529"/>
                </a:solidFill>
                <a:latin typeface="맑은 고딕"/>
              </a:rPr>
              <a:t>✓  피크 시간·지역 데이터 기반 집중 단속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459736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529"/>
                </a:solidFill>
                <a:latin typeface="맑은 고딕"/>
              </a:rPr>
              <a:t>✓  CCTV 공백지수로 설치 우선순위 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935224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529"/>
                </a:solidFill>
                <a:latin typeface="맑은 고딕"/>
              </a:rPr>
              <a:t>✓  월별 단속 건수 예측 (MAE 1,451건/6.7%)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410712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529"/>
                </a:solidFill>
                <a:latin typeface="맑은 고딕"/>
              </a:rPr>
              <a:t>✓  재보정위험도로 35개 법정동 위험 등급화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2331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7000"/>
                </a:solidFill>
                <a:latin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187952"/>
            <a:ext cx="1179576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422452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 성과 지표 (KPI)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572000"/>
            <a:ext cx="3703320" cy="1737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4617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앙상블 예측 정확도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95604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MAPE 6.7%
MAE 1,451건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5778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</a:rPr>
              <a:t>전통모델 대비 38% 개선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572000"/>
            <a:ext cx="3703320" cy="173736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59" y="4617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CCTV 시급 설치 지역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59" y="495604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공백지수 &gt; 0.3
5개 지역 도출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55778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</a:rPr>
              <a:t>금곡동/비봉면/방교동/장지동/송산동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59" y="4572000"/>
            <a:ext cx="3703320" cy="173736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9" y="4617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민원 감소 기대 효과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495604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고위험 지역
선제 단속 강화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5577840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맑은 고딕"/>
              </a:rPr>
              <a:t>향남읍·석우동·영천동 집중 대응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3단계 로드맵: POC 완료 → 시범운영 → 전시 확대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97280"/>
            <a:ext cx="3703320" cy="7498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1143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1단계
POC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645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맑은 고딕"/>
              </a:rPr>
              <a:t>2026.5 ~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47088"/>
            <a:ext cx="37033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920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대시보드 최종 완성 및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캡스톤 발표 및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0540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코드 리팩토링 및 문서화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62102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GitHub 공개 레포지터리 배포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097280"/>
            <a:ext cx="3703320" cy="749808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1143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2단계
시범운영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645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맑은 고딕"/>
              </a:rPr>
              <a:t>2026 하반기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847088"/>
            <a:ext cx="37033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79" y="1920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화성시 담당 부서 파일럿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실제 단속 데이터와 예측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30540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사용자 피드백 수집 및 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62102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2026년 실제 결과 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097280"/>
            <a:ext cx="3703320" cy="74980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1" y="1143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3단계
전시 확대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164592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맑은 고딕"/>
              </a:rPr>
              <a:t>2027~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847088"/>
            <a:ext cx="37033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1920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경기도 내 다른 시로 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24871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실시간 데이터 연동 구현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30540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API 서버 분리 및 클라우드 배포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62102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맑은 고딕"/>
              </a:rPr>
              <a:t>• 행정 시스템 연계 검토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572000"/>
            <a:ext cx="11704320" cy="29260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459943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도입 장벽 및 고려사항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937760"/>
            <a:ext cx="2788920" cy="1389888"/>
          </a:xfrm>
          <a:prstGeom prst="rect">
            <a:avLst/>
          </a:prstGeom>
          <a:solidFill>
            <a:srgbClr val="D6E8F7"/>
          </a:solidFill>
          <a:ln w="63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1752" y="4983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데이터 접근 권한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" y="528523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화성시 공공데이터 API 연동 시 협약 필요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4937760"/>
            <a:ext cx="2788920" cy="1389888"/>
          </a:xfrm>
          <a:prstGeom prst="rect">
            <a:avLst/>
          </a:prstGeom>
          <a:solidFill>
            <a:srgbClr val="D6E8F7"/>
          </a:solidFill>
          <a:ln w="63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27832" y="4983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인력 운영 연계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7832" y="528523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예측 결과를 실제 인력 배치 시스템과 통합 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937760"/>
            <a:ext cx="2788920" cy="1389888"/>
          </a:xfrm>
          <a:prstGeom prst="rect">
            <a:avLst/>
          </a:prstGeom>
          <a:solidFill>
            <a:srgbClr val="D6E8F7"/>
          </a:solidFill>
          <a:ln w="63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53912" y="4983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실시간 업데이트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3912" y="528523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현재 배치 분석 → 스트리밍 데이터 처리로 전환 필요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4937760"/>
            <a:ext cx="2788920" cy="1389888"/>
          </a:xfrm>
          <a:prstGeom prst="rect">
            <a:avLst/>
          </a:prstGeom>
          <a:solidFill>
            <a:srgbClr val="D6E8F7"/>
          </a:solidFill>
          <a:ln w="63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79992" y="4983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개인정보 이슈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9992" y="528523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단속 데이터 비식별화 처리 기준 마련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회고 및 소회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AI 바이브코딩 협업의 극복점 · 다음 프로젝트에 적용할 배움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6858000" cy="34747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13385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AI 바이브코딩 극복 사례  —  SARIMA 예측값 폭발 버그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508760"/>
            <a:ext cx="68580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" y="1508760"/>
            <a:ext cx="1645920" cy="1078992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" y="1709928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Situation
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618488"/>
            <a:ext cx="5029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앙상블 대시보드 완성 직전, 탭5 예측값이
갑자기 -9,223,372,036,854,775,808 표시.
서비스 직전 치명적 버그 발생.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679191"/>
            <a:ext cx="68580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" y="2679191"/>
            <a:ext cx="1645920" cy="107899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" y="2880360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Action
AI 협업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88920"/>
            <a:ext cx="5029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스택 트레이스 + 예측값 분포를 Claude에 입력.
'SARIMA(1,0,1)(1,1,0,12) 차분 부족으로
비정상 시계열 → NaN → int 변환 시 폭발'
원인 분석 완료 시간: 2분 이내.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849624"/>
            <a:ext cx="68580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" y="3849624"/>
            <a:ext cx="1645920" cy="107899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" y="4050791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Result
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59352"/>
            <a:ext cx="5029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파라미터 (1,1,1)(1,1,0,12)로 변경 +
예측값 범위 검증 후 폴백 로직 구현.
예측값 정상화 (16,732건 출력).
단독 해결 시 반나절 이상 예상 → 30분 해결.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5020056"/>
            <a:ext cx="68580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" y="5020056"/>
            <a:ext cx="1645920" cy="1078992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" y="5221224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Lesson
핵심 인사이트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129784"/>
            <a:ext cx="5029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AI는 증상을 잘 설명하면 원인을 빠르게 진단.
단, AI 제안 파라미터도 직접 유효성 검증 필수.
'AI가 고쳤다'가 아니라
'AI와 함께 내가 고쳤다'는 인식이 핵심.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1097280"/>
            <a:ext cx="470916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11338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다음 프로젝트에 적용할 배움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508760"/>
            <a:ext cx="470916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69480" y="1508760"/>
            <a:ext cx="4709160" cy="310896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155448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① 버전 명시 먼저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911095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AI 코드 쓰기 전 라이브러리 버전을
requirements.txt에 고정.
버전 충돌 디버깅은 AI도 어렵다.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2679191"/>
            <a:ext cx="470916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69480" y="2679191"/>
            <a:ext cx="4709160" cy="31089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60920" y="2724911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② 검증 코드 먼저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081527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기능보다 검증 로직을 먼저 짜라.
예측값 범위·타입·NaN 검사가
먼저 있었다면 폭발 버그를 사전에 잡았다.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3849624"/>
            <a:ext cx="470916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69480" y="3849624"/>
            <a:ext cx="4709160" cy="31089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60920" y="38953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③ AI 역할 분담 명확히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251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코드 초안 = AI
통합·검증·도메인 판단 = 사람.
이 경계가 무너지면 오류가 프로덕션에 나간다.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5020056"/>
            <a:ext cx="470916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269480" y="5020056"/>
            <a:ext cx="4709160" cy="310896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60920" y="506577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④ 통합 테스트 습관화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542239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탭별 단독 테스트 통과해도
통합 시 엣지케이스 버그 발생.
AI 코드일수록 통합 테스트를 더 철저히.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결론 요약  &amp;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  <a:latin typeface="맑은 고딕"/>
              </a:rPr>
              <a:t>이 프로젝트가 만든 것 — 5가지 핵심 성과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1627632" cy="841248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60704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217,682건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6E8F7"/>
                </a:solidFill>
                <a:latin typeface="맑은 고딕"/>
              </a:rPr>
              <a:t>2023년 실단속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5104" y="1024128"/>
            <a:ext cx="1627632" cy="8412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1060704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MAE 1,451건
(6.7%)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6E8F7"/>
                </a:solidFill>
                <a:latin typeface="맑은 고딕"/>
              </a:rPr>
              <a:t>앙상블 모델 성능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1608" y="1024128"/>
            <a:ext cx="1627632" cy="84124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1060704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향남읍 6.87점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6E8F7"/>
                </a:solidFill>
                <a:latin typeface="맑은 고딕"/>
              </a:rPr>
              <a:t>위험도 1위 지역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8112" y="1024128"/>
            <a:ext cx="1627632" cy="84124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13831" y="1060704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10월 21,276건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1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6E8F7"/>
                </a:solidFill>
                <a:latin typeface="맑은 고딕"/>
              </a:rPr>
              <a:t>2026년 피크 예측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4616" y="1024128"/>
            <a:ext cx="1627632" cy="84124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0336" y="1060704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금곡동 0.733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6E8F7"/>
                </a:solidFill>
                <a:latin typeface="맑은 고딕"/>
              </a:rPr>
              <a:t>CCTV 공백 1위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975104"/>
            <a:ext cx="85953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600" y="1975104"/>
            <a:ext cx="64008" cy="64008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0116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①  전처리 &amp;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23042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2023년 실단속 217,682건 / 법정동 미추출 16.7% → 1.7% 정제 / 35개 법정동 확정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688336"/>
            <a:ext cx="85953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2688336"/>
            <a:ext cx="64008" cy="64008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②  위험도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0175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실단속×0.65 + 민원×0.35 공식 → 향남읍 6.87점 고위험 1위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401568"/>
            <a:ext cx="85953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3401568"/>
            <a:ext cx="64008" cy="64008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3438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③  예측 모델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373075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Prophet + SARIMA 앙상블 MAE 1,451건(6.7%) — 8개 모델 중 최고 성능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114800"/>
            <a:ext cx="85953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" y="4114800"/>
            <a:ext cx="64008" cy="64008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4151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④  정책 추천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44398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CCTV 공백 5지역 시급 설치 권고 / 2026년 10월 단속 인력 증원 권장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828032"/>
            <a:ext cx="859536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8600" y="4828032"/>
            <a:ext cx="64008" cy="64008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4864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⑤  대시보드 시스템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15721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Streamlit 5탭 — 위험도지도·히트맵·위반유형·예측·정책권고 통합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1024128"/>
            <a:ext cx="2971800" cy="493776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06840" y="1965960"/>
            <a:ext cx="2971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670048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맑은 고딕"/>
              </a:rPr>
              <a:t>감사합니다!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329184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8F7"/>
                </a:solidFill>
                <a:latin typeface="맑은 고딕"/>
              </a:rPr>
              <a:t>에네레기파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703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맑은 고딕"/>
              </a:rPr>
              <a:t>임단군 · 정예민 · 안유경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096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8F7"/>
                </a:solidFill>
                <a:latin typeface="맑은 고딕"/>
              </a:rPr>
              <a:t>지도교수: 김순찬 교수님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462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  <a:latin typeface="맑은 고딕"/>
              </a:rPr>
              <a:t>2026.05.29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데이터 &amp; 전처리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원천 데이터 → 분석 가능 형태로 정제하는 5단계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143000"/>
            <a:ext cx="2121408" cy="384048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17043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맑은 고딕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xlsx 로드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527048"/>
            <a:ext cx="21214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1572768"/>
            <a:ext cx="199339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529"/>
                </a:solidFill>
                <a:latin typeface="맑은 고딕"/>
              </a:rPr>
              <a:t>화성시 단속 원본 엑셀
2021~2025년 전체
약 25만+ 행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1920240"/>
            <a:ext cx="219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32888" y="1143000"/>
            <a:ext cx="2121408" cy="38404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78608" y="117043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맑은 고딕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법정동 추출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2888" y="1527048"/>
            <a:ext cx="21214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1572768"/>
            <a:ext cx="199339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529"/>
                </a:solidFill>
                <a:latin typeface="맑은 고딕"/>
              </a:rPr>
              <a:t>주소 파싱 로직
미추출 16.7% → 1.7%
정규식 기반 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1920240"/>
            <a:ext cx="219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2896" y="1143000"/>
            <a:ext cx="2121408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28616" y="117043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맑은 고딕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위반유형
분류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82896" y="1527048"/>
            <a:ext cx="21214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56048" y="1572768"/>
            <a:ext cx="199339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529"/>
                </a:solidFill>
                <a:latin typeface="맑은 고딕"/>
              </a:rPr>
              <a:t>주정차 위반 유형
10개 카테고리 분류
코드 표준화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1920240"/>
            <a:ext cx="219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32903" y="1143000"/>
            <a:ext cx="2121408" cy="38404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78623" y="117043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맑은 고딕"/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1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소규모 제거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3" y="1527048"/>
            <a:ext cx="21214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06055" y="1572768"/>
            <a:ext cx="199339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529"/>
                </a:solidFill>
                <a:latin typeface="맑은 고딕"/>
              </a:rPr>
              <a:t>5건 미만 법정동
통계적 노이즈 제거
35개 법정동 확정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1" y="1920240"/>
            <a:ext cx="219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E4A"/>
                </a:solidFill>
                <a:latin typeface="맑은 고딕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82911" y="1143000"/>
            <a:ext cx="2121408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28632" y="117043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맑은 고딕"/>
              </a:rPr>
              <a:t>Step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9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5개 CSV
출력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82911" y="1527048"/>
            <a:ext cx="212140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56063" y="1572768"/>
            <a:ext cx="199339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529"/>
                </a:solidFill>
                <a:latin typeface="맑은 고딕"/>
              </a:rPr>
              <a:t>법정동별/시간대별
월별/위반유형별
최종 분석 데이터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291840"/>
            <a:ext cx="1175004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332841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 개선 지표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3675887"/>
            <a:ext cx="2788920" cy="162763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3749039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법정동 미추출률
16.7% → 1.7%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480560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맑은 고딕"/>
              </a:rPr>
              <a:t>▼ 90% 개선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27248" y="3675887"/>
            <a:ext cx="2788920" cy="162763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18688" y="3749039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최종 분석 대상
법정동 35개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8688" y="4480560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맑은 고딕"/>
              </a:rPr>
              <a:t>전체 커버리지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71616" y="3675887"/>
            <a:ext cx="2788920" cy="162763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63056" y="3749039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월별 시계열 데이터
51개월 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3056" y="4480560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맑은 고딕"/>
              </a:rPr>
              <a:t>2021.01~2025.03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15984" y="3675887"/>
            <a:ext cx="2788920" cy="162763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07424" y="3749039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위반유형
10개 카테고리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7424" y="4480560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맑은 고딕"/>
              </a:rPr>
              <a:t>체계적 분류 완료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82880" y="5376672"/>
          <a:ext cx="117500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5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데이터 출처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화성시 불법주정차 단속 원천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분석 기간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2021년 1월 ~ 2025년 4월 (51개월)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총 단속 건수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217,682건 (2023년 실단속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학습/검증 분리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학습: 2021~2024 / 검증(out-of-sample): 2025.01~04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출력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529"/>
                          </a:solidFill>
                          <a:latin typeface="맑은 고딕"/>
                        </a:rPr>
                        <a:t>monthly_by_dong.csv 외 4개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분석 결과 ①: 법정동별 재보정위험도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실단속비율×0.65 + 민원비율×0.35 복합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97280"/>
            <a:ext cx="777240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33856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E8F7"/>
                </a:solidFill>
                <a:latin typeface="맑은 고딕"/>
              </a:rPr>
              <a:t>재보정위험도 산출 공식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389888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재보정위험도  =  (법정동 단속건수 / 전체 단속건수)  ×  0.65  +  (법정동 민원건수 / 전체 민원건수)  ×  0.35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09728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1338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위험도 등급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42646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3A3A"/>
                </a:solidFill>
                <a:latin typeface="맑은 고딕"/>
              </a:rPr>
              <a:t>고위험 (RED)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14264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점수 &gt;= 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572768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7000"/>
                </a:solidFill>
                <a:latin typeface="맑은 고딕"/>
              </a:rPr>
              <a:t>중위험 (ORANGE)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15727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3.0 ~ 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719072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8A745"/>
                </a:solidFill>
                <a:latin typeface="맑은 고딕"/>
              </a:rPr>
              <a:t>저위험 (GREEN)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17190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점수 &lt; 3.0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82880" y="1993392"/>
          <a:ext cx="1175004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법정동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재보정위험도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위험등급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단속건수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향남읍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6.87점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고위험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33,280건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CCTV 강화 시급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석우동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5.67점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중위험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21,408건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동탄2신도시 밀집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영천동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5.42점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중위험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18,755건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상업지구 집중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오산동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4.17점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중위험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18,526건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생활도로 다수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남양읍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4.16점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중위험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18,763건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읍내 중심가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6위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반송동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4.13점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중위험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15,783건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주거지역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7위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봉담읍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4.06점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중위험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13,743건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봉담지구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182880" y="4480560"/>
            <a:ext cx="1175004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45171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분석 시사점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864608"/>
            <a:ext cx="2788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2880" y="4864608"/>
            <a:ext cx="2788920" cy="25603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88289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맑은 고딕"/>
              </a:rPr>
              <a:t>향남읍 압도적 1위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5166360"/>
            <a:ext cx="26517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6.87점으로 2위 석우동(5.67점)보다 1.2점 높음 → 즉각 집중 단속 필요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4864608"/>
            <a:ext cx="2788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27248" y="4864608"/>
            <a:ext cx="2788920" cy="25603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0" y="488289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맑은 고딕"/>
              </a:rPr>
              <a:t>동탄2신도시 집중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166360"/>
            <a:ext cx="26517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석우동·영천동·오산동 모두 TOP 5 → 신도시 개발 후 인프라 부족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71616" y="4864608"/>
            <a:ext cx="2788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71616" y="4864608"/>
            <a:ext cx="2788920" cy="25603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4768" y="488289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맑은 고딕"/>
              </a:rPr>
              <a:t>읍 단위 고위험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5166360"/>
            <a:ext cx="26517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향남읍·남양읍·봉담읍 → 읍 지역 단속 인프라 투자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15984" y="4864608"/>
            <a:ext cx="2788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15984" y="4864608"/>
            <a:ext cx="2788920" cy="256032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89136" y="488289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맑은 고딕"/>
              </a:rPr>
              <a:t>TOP 7 비중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9136" y="5166360"/>
            <a:ext cx="26517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상위 7개 법정동이 전체 민원의 약 40% 집중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분석 결과 ②③: CCTV 공백지수 &amp; 시간대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CCTV 설치 우선순위 도출 + 피크 시간대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97280"/>
            <a:ext cx="5669280" cy="32004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3385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② CCTV 공백지수 TOP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63040"/>
            <a:ext cx="5669280" cy="292608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4904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700"/>
                </a:solidFill>
                <a:latin typeface="맑은 고딕"/>
              </a:rPr>
              <a:t>공백지수 = 민원비율 - 고정CCTV비율  (높을수록 CCTV 시급 설치 필요)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82880" y="1801368"/>
          <a:ext cx="56692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법정동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공백지수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CCTV 비율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민원 비율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금곡동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비봉면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0.528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방교동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0.429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장지동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0.385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66%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송산동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0.287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82880" y="3767328"/>
            <a:ext cx="5669280" cy="2926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7947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CCTV 즉시 설치 권고 지역 (공백지수 0.3 이상)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059936"/>
            <a:ext cx="5669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41148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• 금곡동: CCTV 완전 공백 (0%), 민원 73% → 최우선 설치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4334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• 비봉면: CCTV 완전 공백 (0%), 민원 53% → 2순위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5537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• 방교동: CCTV 15% 불충분, 민원 58% → 추가 설치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7731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• 장지동: CCTV 28% vs 민원 66% → 대폭 증설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9926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529"/>
                </a:solidFill>
                <a:latin typeface="맑은 고딕"/>
              </a:rPr>
              <a:t>• 예산 배분 기준으로 공백지수 활용 → 객관적 의사결정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97280"/>
            <a:ext cx="5806440" cy="3200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133856"/>
            <a:ext cx="5623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③ 시간대별 단속 패턴 (전체)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26480" y="1463040"/>
          <a:ext cx="580644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7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시간대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단속건수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15시 (오후 3시)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33,188건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1위 피크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10시 (오전 10시)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29,200건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오전 피크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16시 (오후 4시)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27,886건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오후 연속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17시 (오후 5시)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22,596건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퇴근 직전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09시 (오전 9시)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20,660건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출근 직후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772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20시 (오후 8시)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15,197건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6위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저녁 시간대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126480" y="3520440"/>
            <a:ext cx="580644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547872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시간대 패턴 해석 및 인력 배치 제언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858768"/>
            <a:ext cx="5806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389534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7A2B8"/>
                </a:solidFill>
                <a:latin typeface="맑은 고딕"/>
              </a:rPr>
              <a:t>주간 집중 패턴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413308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09~17시에 전체 단속의 68% 집중 → 주간 인력 집중 배치 필요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480559"/>
            <a:ext cx="5806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2" y="451713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7A2B8"/>
                </a:solidFill>
                <a:latin typeface="맑은 고딕"/>
              </a:rPr>
              <a:t>오후 피크 (15~16시)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475487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학교 하교 + 쇼핑 + 업무 종료 겹침 → 15~16시 증원 필수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102352"/>
            <a:ext cx="5806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99632" y="513892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7A2B8"/>
                </a:solidFill>
                <a:latin typeface="맑은 고딕"/>
              </a:rPr>
              <a:t>야간 단속 취약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53766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18시 이후 급감 → 야간 CCTV 자동 단속 보완 필요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5285232"/>
            <a:ext cx="11750040" cy="292608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531266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700"/>
                </a:solidFill>
                <a:latin typeface="맑은 고딕"/>
              </a:rPr>
              <a:t>요일별 추가 분석:  월요일 단속건수 최다  |  토·일 평일 대비 30% 감소  |  공휴일 전날 평일 대비 15% 증가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예측 모델 &amp; 모델 선정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Prophet + SARIMA 앙상블 — 8개 모델 비교 최종 선정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97280"/>
            <a:ext cx="5486400" cy="32004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3385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Prophet + SARIMA 앙상블 모델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6304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5087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데이터 기간: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5087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51개월 (2021.01 ~ 2025.03)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8013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학습 기간: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1801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2021.01 ~ 2024.12 (48개월)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20939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검증 기간: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0939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2025.01 ~ 2025.04 (4개월, out-of-sample)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4A"/>
                </a:solidFill>
                <a:latin typeface="맑은 고딕"/>
              </a:rPr>
              <a:t>예측 기간: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3865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2026.06 ~ 2026.11 (6개월)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834640"/>
            <a:ext cx="2606040" cy="292608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286207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Prophet 단독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27248"/>
            <a:ext cx="2606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316382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Facebook Prophet 활용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334670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계절성 자동 감지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352958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MAE: 1,594건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371246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MAPE: 7.4%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389534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앙상블 weight: 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834640"/>
            <a:ext cx="2743200" cy="29260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99232" y="2862072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SARIMA(1,1,1)(1,1,0,12)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127248"/>
            <a:ext cx="27432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9232" y="3163824"/>
            <a:ext cx="2596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계절형 ARIMA 모델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3346704"/>
            <a:ext cx="2596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12개월 계절 주기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3529584"/>
            <a:ext cx="2596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MAE: 1,571건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232" y="3712464"/>
            <a:ext cx="2596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MAPE: 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9232" y="3895344"/>
            <a:ext cx="2596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앙상블 weight: 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4251960"/>
            <a:ext cx="548640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428853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앙상블 = Prophet×0.5 + SARIMA×0.5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572000"/>
            <a:ext cx="548640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6032" y="4617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맑은 고딕"/>
              </a:rPr>
              <a:t>앙상블 MAE: 1,451건  |  MAPE: 6.7%  |  단독 모델 대비 최대 8% 개선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" y="50109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전통 시계열 모델(Holt-Winters, ARIMA) 대비 38% 이상 개선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1097280"/>
            <a:ext cx="608076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9320" y="1133856"/>
            <a:ext cx="5897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모델 선정 이유 — 8개 모델 비교표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897880" y="1463040"/>
          <a:ext cx="6080760" cy="304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모델명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MAE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MAPE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★ Prophet+SARIMA 앙상블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1,451건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최종 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Prophet 단독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1,594건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7.4%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구성 모델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SARIMA(1,1,1)(1,1,0,12)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1,571건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구성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선형회귀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2,302건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11.3%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Holt-Winters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2,341건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ARIMA(1,1,1)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2,409건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11.8%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Naive (직전월 반복)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2,584건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92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Seasonal Naive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2,982건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16.0%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12529"/>
                          </a:solidFill>
                          <a:latin typeface="맑은 고딕"/>
                        </a:rPr>
                        <a:t>최하위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5897880" y="4370832"/>
            <a:ext cx="6080760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89320" y="4398264"/>
            <a:ext cx="5897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최종 선정 이유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7880" y="4663440"/>
            <a:ext cx="6080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71032" y="47091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8개 모델 중 MAE 1,451건, MAPE 6.7%로 최고 성능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71032" y="50017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단독 Prophet/SARIMA 대비 MAE 최대 8% 추가 개선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71032" y="529437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전통 모델(Holt-Winters 11.8%) 대비 MAPE 38% 개선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71032" y="5586984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두 모델의 장점(추세감지 + 계절성) 상호 보완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71032" y="58795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Out-of-sample 검증으로 과적합 없음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예측 결과: 2026년 6~11월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Prophet + SARIMA 앙상블 월별 예측 및 인력 수요 권고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" y="1097280"/>
          <a:ext cx="1175004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8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Prophet 예측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SARIMA 예측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앙상블 예측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전월대비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인력수요 권고</a:t>
                      </a:r>
                    </a:p>
                  </a:txBody>
                  <a:tcPr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2026년 6월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19,024건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20,118건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19,575건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2026년 7월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18,786건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21,164건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19,984건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▲ 2.1%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2026년 8월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18,222건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20,201건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19,219건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▼ 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2026년 9월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18,796건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18,932건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18,864건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▼ 1.8%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8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2026년 10월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19,664건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22,864건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21,276건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▲ 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★ 증원 권장 (피크)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2026년 11월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17,784건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19,465건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18,630건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▼ 12.4%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82880" y="3657600"/>
            <a:ext cx="1175004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69417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예측 요약 및 인력 배치 권고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41648"/>
            <a:ext cx="2148840" cy="141732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40965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6개월 평균
예측 건수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590288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19,591건/월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4041648"/>
            <a:ext cx="2148840" cy="14173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40965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최고 피크
(10월)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590288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21,276건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4041648"/>
            <a:ext cx="2148840" cy="14173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40965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최저 예측
(11월)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590288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18,630건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4041648"/>
            <a:ext cx="2148840" cy="14173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59" y="40965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증원 권장
기간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590288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10월 한 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59" y="4041648"/>
            <a:ext cx="2148840" cy="14173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40965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Prophet vs
SARIMA 격차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590288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맑은 고딕"/>
              </a:rPr>
              <a:t>10월 최대
3,200건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532120"/>
            <a:ext cx="11750040" cy="32004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55595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700"/>
                </a:solidFill>
                <a:latin typeface="맑은 고딕"/>
              </a:rPr>
              <a:t>해석:  10월은 기온 하강 + 단풍 관광 + 학교 행사 집중으로 외출·방문 증가 → 불법주정차 단속건수 급증 예상  →  10월 단속인력 사전 증원 권장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25312"/>
            <a:ext cx="11750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59436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6FB5"/>
                </a:solidFill>
                <a:latin typeface="맑은 고딕"/>
              </a:rPr>
              <a:t>• Prophet: 계절 패턴 추세 기반 — 10월 19,664건 (낮게 예측)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1630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A2B8"/>
                </a:solidFill>
                <a:latin typeface="맑은 고딕"/>
              </a:rPr>
              <a:t>• SARIMA: 자기회귀 기반 — 10월 22,864건 (높게 예측)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943600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8A745"/>
                </a:solidFill>
                <a:latin typeface="맑은 고딕"/>
              </a:rPr>
              <a:t>• 앙상블: 두 모델 평균 — 10월 21,276건 (균형잡힌 예측)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16305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3A3A"/>
                </a:solidFill>
                <a:latin typeface="맑은 고딕"/>
              </a:rPr>
              <a:t>• 10월 격차 3,200건 → 불확실성 높음, 인력 여유분 확보 권장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정책 추천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3-Tier 자동 정책 분류 및 우선순위 산출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97280"/>
            <a:ext cx="1175004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1338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맑은 고딕"/>
              </a:rPr>
              <a:t>단속강화 우선순위 공식:  단속강화 점수  =  재보정위험도 × 0.7  +  통행불편지수 ×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33502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8F7"/>
                </a:solidFill>
                <a:latin typeface="맑은 고딕"/>
              </a:rPr>
              <a:t>통행불편지수 = (민원건수/전체민원) × 100  |  CCTV설치 우선순위 = 공백지수 순위  |  안내계도 = 나머지 지역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645920"/>
            <a:ext cx="3703320" cy="5029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16916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Tier 1
단속 강화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148840"/>
            <a:ext cx="37033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1945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3A3A"/>
                </a:solidFill>
                <a:latin typeface="맑은 고딕"/>
              </a:rPr>
              <a:t>적용 조건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414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재보정위험도 &gt;= 4.0
+ 통행불편지수 상위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8895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3A3A"/>
                </a:solidFill>
                <a:latin typeface="맑은 고딕"/>
              </a:rPr>
              <a:t>권고 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해당 지역 단속 인력 30% 증원
• 주간 집중 단속 실시
• 고위험 시간대(15~16시) 상시 배치
• 주민 신고 핫라인 강화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00507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83A3A"/>
                </a:solidFill>
                <a:latin typeface="맑은 고딕"/>
              </a:rPr>
              <a:t>적용 지역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24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맑은 고딕"/>
              </a:rPr>
              <a:t>향남읍·석우동·영천동·오산동·남양읍·반송동·봉담읍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645920"/>
            <a:ext cx="3703320" cy="5029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87952" y="16916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Tier 2
CCTV 설치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148840"/>
            <a:ext cx="37033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0" y="21945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000"/>
                </a:solidFill>
                <a:latin typeface="맑은 고딕"/>
              </a:rPr>
              <a:t>적용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414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CCTV 공백지수 &gt;= 0.3
(민원비율 &gt; CCTV비율)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8895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000"/>
                </a:solidFill>
                <a:latin typeface="맑은 고딕"/>
              </a:rPr>
              <a:t>권고 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CCTV 신규 설치 예산 배정
• 공백지수 순위 기준 우선 배치
• 금곡동·비봉면 최우선 설치
• 이동식 CCTV 중기 운영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00507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000"/>
                </a:solidFill>
                <a:latin typeface="맑은 고딕"/>
              </a:rPr>
              <a:t>시급 지역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224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맑은 고딕"/>
              </a:rPr>
              <a:t>금곡동(0.733)·비봉면(0.528)·방교동(0.429)·장지동(0.385)·송산동(0.287)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1645920"/>
            <a:ext cx="370332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9871" y="16916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Tier 3
안내 계도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19" y="2148840"/>
            <a:ext cx="37033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59" y="21945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A745"/>
                </a:solidFill>
                <a:latin typeface="맑은 고딕"/>
              </a:rPr>
              <a:t>적용 조건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2414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재보정위험도 &lt; 4.0
+ 공백지수 &lt; 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28895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A745"/>
                </a:solidFill>
                <a:latin typeface="맑은 고딕"/>
              </a:rPr>
              <a:t>권고 조치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31089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12529"/>
                </a:solidFill>
                <a:latin typeface="맑은 고딕"/>
              </a:rPr>
              <a:t>• 현수막·표지판 안내 강화
• 주민 교육 프로그램 운영
• 계절별 캠페인 실시
• 정기 모니터링 유지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9" y="400507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A745"/>
                </a:solidFill>
                <a:latin typeface="맑은 고딕"/>
              </a:rPr>
              <a:t>적용 지역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9" y="4224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C757D"/>
                </a:solidFill>
                <a:latin typeface="맑은 고딕"/>
              </a:rPr>
              <a:t>나머지 28개 법정동 해당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5486400"/>
            <a:ext cx="11750040" cy="32004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55138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700"/>
                </a:solidFill>
                <a:latin typeface="맑은 고딕"/>
              </a:rPr>
              <a:t>대시보드 자동화:  법정동 선택 → 위험도/공백지수 자동 계산 → Tier 분류 → 맞춤 정책 권고문 자동 생성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50976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[부록] 대시보드 5탭 상세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7"/>
                </a:solidFill>
                <a:latin typeface="맑은 고딕"/>
              </a:rPr>
              <a:t>Streamlit 기반 통합 분석 대시보드 — 탭별 상세 기능 명세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115568"/>
            <a:ext cx="2148840" cy="5029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16128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탭 1
위험도 지도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18488"/>
            <a:ext cx="214884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Folium 기반 인터랙티브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40487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법정동 경계 다각형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311810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재보정위험도 색상 그라데이션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3831335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클릭 시 상세 통계 팝업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45445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고위험/중위험/저위험 구분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5257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TOP 7 마커 자동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115568"/>
            <a:ext cx="2148840" cy="5029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116128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탭 2
히트맵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1618488"/>
            <a:ext cx="214884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33472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시간대(24h) × 요일(7일) 히트맵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240487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Plotly/Seaborn 시각화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311810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피크 셀 자동 하이라이트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3831335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법정동별 필터링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45445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연도별 비교 히트맵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5257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CSV 다운로드 기능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1115568"/>
            <a:ext cx="214884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116128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탭 3
위반유형 대책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1618488"/>
            <a:ext cx="214884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0912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10개 위반유형별 분포 차트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240487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유형별 맞춤 정책 자동 생성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311810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지역×위반유형 교차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3831335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파이차트 + 바차트 통합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5445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시계열 위반유형 트렌드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5257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정책 우선순위 자동 출력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1115568"/>
            <a:ext cx="2148840" cy="50292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60920" y="116128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탭 4
전체 현황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1618488"/>
            <a:ext cx="214884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88352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2021~2024 연도별 추이 선그래프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240487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법정동 TOP 10 바차트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8352" y="311810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CCTV 공백지수 맵 시각화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8352" y="3831335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전체 데이터 요약 통계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45445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연도별 증감률 자동 계산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257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PDF/Excel 내보내기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92640" y="1115568"/>
            <a:ext cx="2148840" cy="5029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738360" y="116128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탭 5
예측 &amp; 정책권고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1618488"/>
            <a:ext cx="214884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65792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2026년 6~11월 예측 선그래프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5792" y="240487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Prophet·SARIMA·앙상블 3선 비교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65792" y="311810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신뢰구간(80%·95%) 표시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831335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월별 인력 수요 자동 권고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45445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법정동 선택 → 개별 예측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65792" y="5257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529"/>
                </a:solidFill>
                <a:latin typeface="맑은 고딕"/>
              </a:rPr>
              <a:t>• 3-Tier 정책 권고문 자동 출력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6263640"/>
            <a:ext cx="11750040" cy="201168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628192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D700"/>
                </a:solidFill>
                <a:latin typeface="맑은 고딕"/>
              </a:rPr>
              <a:t>기술 스택:  Streamlit  |  Folium / streamlit-folium  |  Prophet (Meta)  |  statsmodels SARIMA  |  Plotly  |  Pandas  |  NumPy  |  Matplotlib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[부록] 결론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  <a:latin typeface="맑은 고딕"/>
              </a:rPr>
              <a:t>5줄로 정리하는 에네레기파 프로젝트 핵심 기여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115568"/>
            <a:ext cx="457200" cy="74980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1115568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15568"/>
            <a:ext cx="813816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152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A2B8"/>
                </a:solidFill>
                <a:latin typeface="맑은 고딕"/>
              </a:rPr>
              <a:t>①  전처리 &amp; 데이터 품질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화성시 단속 원천데이터 217,682건 (2023년 실단속 기준), 법정동 미추출 16.7% → 1.7%로 정제, 35개 법정동 분석 확정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11680"/>
            <a:ext cx="457200" cy="749808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2011680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11680"/>
            <a:ext cx="813816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0482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000"/>
                </a:solidFill>
                <a:latin typeface="맑은 고딕"/>
              </a:rPr>
              <a:t>②  위험도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5915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재보정위험도 공식(실단속×0.65 + 민원×0.35) 독자 설계, 향남읍 6.87점 고위험 1위 도출, TOP 7 지역 집중관리 대상 선정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907791"/>
            <a:ext cx="457200" cy="7498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2907791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07791"/>
            <a:ext cx="813816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944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A745"/>
                </a:solidFill>
                <a:latin typeface="맑은 고딕"/>
              </a:rPr>
              <a:t>③  예측 모델 성능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55263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Prophet + SARIMA 앙상블 MAE 1,451건·MAPE 6.7% — 8개 모델 중 최고 성능, 전통모델 대비 38% 개선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803904"/>
            <a:ext cx="457200" cy="7498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" y="3803904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03904"/>
            <a:ext cx="813816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3A3A"/>
                </a:solidFill>
                <a:latin typeface="맑은 고딕"/>
              </a:rPr>
              <a:t>④  정책 추천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51376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CCTV 공백지수 0.3 이상 5개 지역 시급 설치 권고, 2026년 10월 피크(21,276건) 대비 단속인력 증원 권장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700016"/>
            <a:ext cx="457200" cy="74980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4700016"/>
            <a:ext cx="457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00016"/>
            <a:ext cx="8138160" cy="7498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736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F42C1"/>
                </a:solidFill>
                <a:latin typeface="맑은 고딕"/>
              </a:rPr>
              <a:t>⑤  대시보드 완성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47488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맑은 고딕"/>
              </a:rPr>
              <a:t>Streamlit 5탭 시스템 — 위험도지도·히트맵·위반유형대책·전체현황·예측&amp;정책권고 통합 제공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1115568"/>
            <a:ext cx="3063240" cy="4480560"/>
          </a:xfrm>
          <a:prstGeom prst="rect">
            <a:avLst/>
          </a:prstGeom>
          <a:solidFill>
            <a:srgbClr val="1E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1938528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6974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맑은 고딕"/>
              </a:rPr>
              <a:t>감사합니다!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3375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8F7"/>
                </a:solidFill>
                <a:latin typeface="맑은 고딕"/>
              </a:rPr>
              <a:t>에네레기파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7673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맑은 고딕"/>
              </a:rPr>
              <a:t>임단군 · 정예민 · 안유경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1879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8F7"/>
                </a:solidFill>
                <a:latin typeface="맑은 고딕"/>
              </a:rPr>
              <a:t>지도교수: 김순찬 교수님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5262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맑은 고딕"/>
              </a:rPr>
              <a:t>2026.05.29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65653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맑은 고딕"/>
              </a:rPr>
              <a:t>에네레기파 | 지도교수: 김순찬 교수님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56539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8F7"/>
                </a:solidFill>
                <a:latin typeface="맑은 고딕"/>
              </a:rPr>
              <a:t>트랙 B 자유주제 No.13  |  2026.05.29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3933</Words>
  <Application>Microsoft Office PowerPoint</Application>
  <PresentationFormat>사용자 지정</PresentationFormat>
  <Paragraphs>693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임단군</cp:lastModifiedBy>
  <cp:revision>2</cp:revision>
  <dcterms:created xsi:type="dcterms:W3CDTF">2013-01-27T09:14:16Z</dcterms:created>
  <dcterms:modified xsi:type="dcterms:W3CDTF">2026-05-28T11:40:24Z</dcterms:modified>
  <cp:category/>
</cp:coreProperties>
</file>